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8" d="100"/>
          <a:sy n="88" d="100"/>
        </p:scale>
        <p:origin x="827" y="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r>
              <a:rPr lang="en-IN"/>
              <a:t>Insurance Claim Status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dLbls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Approved</c:v>
                </c:pt>
                <c:pt idx="1">
                  <c:v>Partially Approved</c:v>
                </c:pt>
                <c:pt idx="2">
                  <c:v>Pending</c:v>
                </c:pt>
                <c:pt idx="3">
                  <c:v>Rejected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53.624699999999997</c:v>
                </c:pt>
                <c:pt idx="1">
                  <c:v>13.444699999999999</c:v>
                </c:pt>
                <c:pt idx="2">
                  <c:v>12.224600000000001</c:v>
                </c:pt>
                <c:pt idx="3">
                  <c:v>20.706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561-4097-9672-E1C338DD8F65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6126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009DA6"/>
                </a:solidFill>
                <a:latin typeface="Aptos"/>
              </a:rPr>
              <a:t>APOLLO HOSPITALS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6766560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400" b="1">
                <a:solidFill>
                  <a:srgbClr val="12365B"/>
                </a:solidFill>
                <a:latin typeface="Aptos"/>
              </a:rPr>
              <a:t>Business Data Analysis</a:t>
            </a:r>
            <a:br/>
            <a:r>
              <a:t>&amp; Excel Dashboard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3154680"/>
            <a:ext cx="60350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697684"/>
                </a:solidFill>
                <a:latin typeface="Aptos"/>
              </a:rPr>
              <a:t>From enterprise healthcare data to actionable business insights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234440"/>
            <a:ext cx="356616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DCEB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092440" y="1600200"/>
            <a:ext cx="292608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CEB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092440" y="1600200"/>
            <a:ext cx="73152" cy="713232"/>
          </a:xfrm>
          <a:prstGeom prst="rect">
            <a:avLst/>
          </a:prstGeom>
          <a:solidFill>
            <a:srgbClr val="00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57031" y="1709928"/>
            <a:ext cx="26517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697684"/>
                </a:solidFill>
                <a:latin typeface="Aptos"/>
              </a:rPr>
              <a:t>Patients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57031" y="1947672"/>
            <a:ext cx="26517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005BA9"/>
                </a:solidFill>
                <a:latin typeface="Aptos"/>
              </a:rPr>
              <a:t>20,240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2441448"/>
            <a:ext cx="292608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CEB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092440" y="2441448"/>
            <a:ext cx="73152" cy="713232"/>
          </a:xfrm>
          <a:prstGeom prst="rect">
            <a:avLst/>
          </a:prstGeom>
          <a:solidFill>
            <a:srgbClr val="009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57031" y="2551176"/>
            <a:ext cx="26517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697684"/>
                </a:solidFill>
                <a:latin typeface="Aptos"/>
              </a:rPr>
              <a:t>Net Revenue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57031" y="2788920"/>
            <a:ext cx="26517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009DA6"/>
                </a:solidFill>
                <a:latin typeface="Aptos"/>
              </a:rPr>
              <a:t>₹34.42 Cr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3282696"/>
            <a:ext cx="292608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CEB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92440" y="3282696"/>
            <a:ext cx="73152" cy="713232"/>
          </a:xfrm>
          <a:prstGeom prst="rect">
            <a:avLst/>
          </a:prstGeom>
          <a:solidFill>
            <a:srgbClr val="EB9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57031" y="3392424"/>
            <a:ext cx="26517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697684"/>
                </a:solidFill>
                <a:latin typeface="Aptos"/>
              </a:rPr>
              <a:t>Claims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57031" y="3630168"/>
            <a:ext cx="26517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EB9A32"/>
                </a:solidFill>
                <a:latin typeface="Aptos"/>
              </a:rPr>
              <a:t>8,442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92440" y="4123944"/>
            <a:ext cx="292608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CEB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092440" y="4123944"/>
            <a:ext cx="73152" cy="713232"/>
          </a:xfrm>
          <a:prstGeom prst="rect">
            <a:avLst/>
          </a:prstGeom>
          <a:solidFill>
            <a:srgbClr val="289B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57031" y="4233672"/>
            <a:ext cx="26517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697684"/>
                </a:solidFill>
                <a:latin typeface="Aptos"/>
              </a:rPr>
              <a:t>Pharmacy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57031" y="4471416"/>
            <a:ext cx="26517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289B5F"/>
                </a:solidFill>
                <a:latin typeface="Aptos"/>
              </a:rPr>
              <a:t>₹8.06 Cr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005BA9"/>
                </a:solidFill>
                <a:latin typeface="Aptos"/>
              </a:rP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13232"/>
            <a:ext cx="10972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697684"/>
                </a:solidFill>
                <a:latin typeface="Aptos"/>
              </a:rPr>
              <a:t>Business objective, scope and analytical focus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24128"/>
            <a:ext cx="11155680" cy="32004"/>
          </a:xfrm>
          <a:prstGeom prst="rect">
            <a:avLst/>
          </a:prstGeom>
          <a:solidFill>
            <a:srgbClr val="009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94360" y="1325880"/>
            <a:ext cx="365760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CEB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435607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009DA6"/>
                </a:solidFill>
                <a:latin typeface="Aptos"/>
              </a:rPr>
              <a:t>Business Objective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856231"/>
            <a:ext cx="3200400" cy="3867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232D37"/>
                </a:solidFill>
                <a:latin typeface="Aptos"/>
              </a:defRPr>
            </a:pPr>
            <a:r>
              <a:t>• Understand patient demand and service utilization across the hospital network.</a:t>
            </a:r>
          </a:p>
          <a:p>
            <a:pPr>
              <a:spcAft>
                <a:spcPts val="800"/>
              </a:spcAft>
              <a:defRPr sz="1200">
                <a:solidFill>
                  <a:srgbClr val="232D37"/>
                </a:solidFill>
                <a:latin typeface="Aptos"/>
              </a:defRPr>
            </a:pPr>
            <a:r>
              <a:t>• Track revenue, billing and insurance performance to support financial decisions.</a:t>
            </a:r>
          </a:p>
          <a:p>
            <a:pPr>
              <a:spcAft>
                <a:spcPts val="800"/>
              </a:spcAft>
              <a:defRPr sz="1200">
                <a:solidFill>
                  <a:srgbClr val="232D37"/>
                </a:solidFill>
                <a:latin typeface="Aptos"/>
              </a:defRPr>
            </a:pPr>
            <a:r>
              <a:t>• Evaluate pharmacy, laboratory and radiology activity for operational planning.</a:t>
            </a:r>
          </a:p>
          <a:p>
            <a:pPr>
              <a:spcAft>
                <a:spcPts val="800"/>
              </a:spcAft>
              <a:defRPr sz="1200">
                <a:solidFill>
                  <a:srgbClr val="232D37"/>
                </a:solidFill>
                <a:latin typeface="Aptos"/>
              </a:defRPr>
            </a:pPr>
            <a:r>
              <a:t>• Convert raw data into decision-ready KPIs, trends and management insights.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325880"/>
            <a:ext cx="342900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CEB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63440" y="1435607"/>
            <a:ext cx="2971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005BA9"/>
                </a:solidFill>
                <a:latin typeface="Aptos"/>
              </a:rPr>
              <a:t>Project 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1856231"/>
            <a:ext cx="2971800" cy="3867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232D37"/>
                </a:solidFill>
                <a:latin typeface="Aptos"/>
              </a:defRPr>
            </a:pPr>
            <a:r>
              <a:t>• Multi-table healthcare dataset imported into Excel.</a:t>
            </a:r>
          </a:p>
          <a:p>
            <a:pPr>
              <a:spcAft>
                <a:spcPts val="800"/>
              </a:spcAft>
              <a:defRPr sz="1200">
                <a:solidFill>
                  <a:srgbClr val="232D37"/>
                </a:solidFill>
                <a:latin typeface="Aptos"/>
              </a:defRPr>
            </a:pPr>
            <a:r>
              <a:t>• Data Model relationships used to connect fact and dimension tables.</a:t>
            </a:r>
          </a:p>
          <a:p>
            <a:pPr>
              <a:spcAft>
                <a:spcPts val="800"/>
              </a:spcAft>
              <a:defRPr sz="1200">
                <a:solidFill>
                  <a:srgbClr val="232D37"/>
                </a:solidFill>
                <a:latin typeface="Aptos"/>
              </a:defRPr>
            </a:pPr>
            <a:r>
              <a:t>• Pivot Tables and Pivot Charts used for analysis.</a:t>
            </a:r>
          </a:p>
          <a:p>
            <a:pPr>
              <a:spcAft>
                <a:spcPts val="800"/>
              </a:spcAft>
              <a:defRPr sz="1200">
                <a:solidFill>
                  <a:srgbClr val="232D37"/>
                </a:solidFill>
                <a:latin typeface="Aptos"/>
              </a:defRPr>
            </a:pPr>
            <a:r>
              <a:t>• Three focused dashboards: Patients, Financial, Pharmacy &amp; Labs.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325880"/>
            <a:ext cx="352044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CEB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75320" y="1435607"/>
            <a:ext cx="30632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EB9A32"/>
                </a:solidFill>
                <a:latin typeface="Aptos"/>
              </a:rPr>
              <a:t>Key Questions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1856231"/>
            <a:ext cx="3063240" cy="3867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232D37"/>
                </a:solidFill>
                <a:latin typeface="Aptos"/>
              </a:defRPr>
            </a:pPr>
            <a:r>
              <a:t>• Who are the patients and how are visits changing?</a:t>
            </a:r>
          </a:p>
          <a:p>
            <a:pPr>
              <a:spcAft>
                <a:spcPts val="800"/>
              </a:spcAft>
              <a:defRPr sz="1200">
                <a:solidFill>
                  <a:srgbClr val="232D37"/>
                </a:solidFill>
                <a:latin typeface="Aptos"/>
              </a:defRPr>
            </a:pPr>
            <a:r>
              <a:t>• Where is revenue generated and how effective are collections/claims?</a:t>
            </a:r>
          </a:p>
          <a:p>
            <a:pPr>
              <a:spcAft>
                <a:spcPts val="800"/>
              </a:spcAft>
              <a:defRPr sz="1200">
                <a:solidFill>
                  <a:srgbClr val="232D37"/>
                </a:solidFill>
                <a:latin typeface="Aptos"/>
              </a:defRPr>
            </a:pPr>
            <a:r>
              <a:t>• Which pharmacy and diagnostic services drive activity?</a:t>
            </a:r>
          </a:p>
          <a:p>
            <a:pPr>
              <a:spcAft>
                <a:spcPts val="800"/>
              </a:spcAft>
              <a:defRPr sz="1200">
                <a:solidFill>
                  <a:srgbClr val="232D37"/>
                </a:solidFill>
                <a:latin typeface="Aptos"/>
              </a:defRPr>
            </a:pPr>
            <a:r>
              <a:t>• Where can management improve efficiency and decision-making?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38360" y="6537960"/>
            <a:ext cx="19202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700" b="0">
                <a:solidFill>
                  <a:srgbClr val="697684"/>
                </a:solidFill>
                <a:latin typeface="Aptos"/>
              </a:rPr>
              <a:t>2  |  Apollo Hospitals Analytics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005BA9"/>
                </a:solidFill>
                <a:latin typeface="Aptos"/>
              </a:rPr>
              <a:t>Workflow of the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13232"/>
            <a:ext cx="10972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697684"/>
                </a:solidFill>
                <a:latin typeface="Aptos"/>
              </a:rPr>
              <a:t>How a data analyst moves from raw files to business recommendations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24128"/>
            <a:ext cx="11155680" cy="32004"/>
          </a:xfrm>
          <a:prstGeom prst="rect">
            <a:avLst/>
          </a:prstGeom>
          <a:solidFill>
            <a:srgbClr val="009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50392" y="1874519"/>
            <a:ext cx="658368" cy="658368"/>
          </a:xfrm>
          <a:prstGeom prst="ellipse">
            <a:avLst/>
          </a:prstGeom>
          <a:solidFill>
            <a:srgbClr val="00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0392" y="1874519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697480"/>
            <a:ext cx="1536192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2365B"/>
                </a:solidFill>
                <a:latin typeface="Aptos"/>
              </a:rPr>
              <a:t>Understand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3063240"/>
            <a:ext cx="1536192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697684"/>
                </a:solidFill>
                <a:latin typeface="Aptos"/>
              </a:rPr>
              <a:t>Business objectives</a:t>
            </a:r>
            <a:br/>
            <a:r>
              <a:t>&amp; questions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1965960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009DA6"/>
                </a:solidFill>
                <a:latin typeface="Aptos"/>
              </a:rPr>
              <a:t>→</a:t>
            </a:r>
          </a:p>
        </p:txBody>
      </p:sp>
      <p:sp>
        <p:nvSpPr>
          <p:cNvPr id="12" name="Oval 11"/>
          <p:cNvSpPr/>
          <p:nvPr/>
        </p:nvSpPr>
        <p:spPr>
          <a:xfrm>
            <a:off x="2514600" y="1874519"/>
            <a:ext cx="658368" cy="658368"/>
          </a:xfrm>
          <a:prstGeom prst="ellipse">
            <a:avLst/>
          </a:prstGeom>
          <a:solidFill>
            <a:srgbClr val="00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514600" y="1874519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75688" y="2697480"/>
            <a:ext cx="1536192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2365B"/>
                </a:solidFill>
                <a:latin typeface="Aptos"/>
              </a:rPr>
              <a:t>Import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75688" y="3063240"/>
            <a:ext cx="1536192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697684"/>
                </a:solidFill>
                <a:latin typeface="Aptos"/>
              </a:rPr>
              <a:t>Load datasets</a:t>
            </a:r>
            <a:br/>
            <a:r>
              <a:t>into Excel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93008" y="1965960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009DA6"/>
                </a:solidFill>
                <a:latin typeface="Aptos"/>
              </a:rPr>
              <a:t>→</a:t>
            </a:r>
          </a:p>
        </p:txBody>
      </p:sp>
      <p:sp>
        <p:nvSpPr>
          <p:cNvPr id="17" name="Oval 16"/>
          <p:cNvSpPr/>
          <p:nvPr/>
        </p:nvSpPr>
        <p:spPr>
          <a:xfrm>
            <a:off x="4178808" y="1874519"/>
            <a:ext cx="658368" cy="658368"/>
          </a:xfrm>
          <a:prstGeom prst="ellipse">
            <a:avLst/>
          </a:prstGeom>
          <a:solidFill>
            <a:srgbClr val="00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178808" y="1874519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39896" y="2697480"/>
            <a:ext cx="1536192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2365B"/>
                </a:solidFill>
                <a:latin typeface="Aptos"/>
              </a:rPr>
              <a:t>Clean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39896" y="3063240"/>
            <a:ext cx="1536192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697684"/>
                </a:solidFill>
                <a:latin typeface="Aptos"/>
              </a:rPr>
              <a:t>Validate blanks,</a:t>
            </a:r>
            <a:br/>
            <a:r>
              <a:t>duplicates &amp; types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57216" y="1965960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009DA6"/>
                </a:solidFill>
                <a:latin typeface="Aptos"/>
              </a:rPr>
              <a:t>→</a:t>
            </a:r>
          </a:p>
        </p:txBody>
      </p:sp>
      <p:sp>
        <p:nvSpPr>
          <p:cNvPr id="22" name="Oval 21"/>
          <p:cNvSpPr/>
          <p:nvPr/>
        </p:nvSpPr>
        <p:spPr>
          <a:xfrm>
            <a:off x="5843016" y="1874519"/>
            <a:ext cx="658368" cy="658368"/>
          </a:xfrm>
          <a:prstGeom prst="ellipse">
            <a:avLst/>
          </a:prstGeom>
          <a:solidFill>
            <a:srgbClr val="00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843016" y="1874519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04104" y="2697480"/>
            <a:ext cx="1536192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2365B"/>
                </a:solidFill>
                <a:latin typeface="Aptos"/>
              </a:rPr>
              <a:t>Model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04104" y="3063240"/>
            <a:ext cx="1536192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697684"/>
                </a:solidFill>
                <a:latin typeface="Aptos"/>
              </a:rPr>
              <a:t>Build table</a:t>
            </a:r>
            <a:br/>
            <a:r>
              <a:t>relationships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21424" y="1965960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009DA6"/>
                </a:solidFill>
                <a:latin typeface="Aptos"/>
              </a:rPr>
              <a:t>→</a:t>
            </a:r>
          </a:p>
        </p:txBody>
      </p:sp>
      <p:sp>
        <p:nvSpPr>
          <p:cNvPr id="27" name="Oval 26"/>
          <p:cNvSpPr/>
          <p:nvPr/>
        </p:nvSpPr>
        <p:spPr>
          <a:xfrm>
            <a:off x="7507224" y="1874519"/>
            <a:ext cx="658368" cy="658368"/>
          </a:xfrm>
          <a:prstGeom prst="ellipse">
            <a:avLst/>
          </a:prstGeom>
          <a:solidFill>
            <a:srgbClr val="00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507224" y="1874519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68312" y="2697480"/>
            <a:ext cx="1536192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2365B"/>
                </a:solidFill>
                <a:latin typeface="Aptos"/>
              </a:rPr>
              <a:t>Analyse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68312" y="3063240"/>
            <a:ext cx="1536192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697684"/>
                </a:solidFill>
                <a:latin typeface="Aptos"/>
              </a:rPr>
              <a:t>Pivot Tables,</a:t>
            </a:r>
            <a:br/>
            <a:r>
              <a:t>KPIs &amp; trends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85632" y="1965960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009DA6"/>
                </a:solidFill>
                <a:latin typeface="Aptos"/>
              </a:rPr>
              <a:t>→</a:t>
            </a:r>
          </a:p>
        </p:txBody>
      </p:sp>
      <p:sp>
        <p:nvSpPr>
          <p:cNvPr id="32" name="Oval 31"/>
          <p:cNvSpPr/>
          <p:nvPr/>
        </p:nvSpPr>
        <p:spPr>
          <a:xfrm>
            <a:off x="9171432" y="1874519"/>
            <a:ext cx="658368" cy="658368"/>
          </a:xfrm>
          <a:prstGeom prst="ellipse">
            <a:avLst/>
          </a:prstGeom>
          <a:solidFill>
            <a:srgbClr val="009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171432" y="1874519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32519" y="2697480"/>
            <a:ext cx="1536192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2365B"/>
                </a:solidFill>
                <a:latin typeface="Aptos"/>
              </a:rPr>
              <a:t>Visualise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32519" y="3063240"/>
            <a:ext cx="1536192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697684"/>
                </a:solidFill>
                <a:latin typeface="Aptos"/>
              </a:rPr>
              <a:t>Build 3-page</a:t>
            </a:r>
            <a:br/>
            <a:r>
              <a:t>Excel dashboard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49840" y="1965960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009DA6"/>
                </a:solidFill>
                <a:latin typeface="Aptos"/>
              </a:rPr>
              <a:t>→</a:t>
            </a:r>
          </a:p>
        </p:txBody>
      </p:sp>
      <p:sp>
        <p:nvSpPr>
          <p:cNvPr id="37" name="Oval 36"/>
          <p:cNvSpPr/>
          <p:nvPr/>
        </p:nvSpPr>
        <p:spPr>
          <a:xfrm>
            <a:off x="10835640" y="1874519"/>
            <a:ext cx="658368" cy="658368"/>
          </a:xfrm>
          <a:prstGeom prst="ellipse">
            <a:avLst/>
          </a:prstGeom>
          <a:solidFill>
            <a:srgbClr val="009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0835640" y="1874519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396728" y="2697480"/>
            <a:ext cx="1536192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2365B"/>
                </a:solidFill>
                <a:latin typeface="Aptos"/>
              </a:rPr>
              <a:t>Recommend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396728" y="3063240"/>
            <a:ext cx="1536192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697684"/>
                </a:solidFill>
                <a:latin typeface="Aptos"/>
              </a:rPr>
              <a:t>Translate findings</a:t>
            </a:r>
            <a:br/>
            <a:r>
              <a:t>into actions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60120" y="4160520"/>
            <a:ext cx="102412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B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188720" y="4270248"/>
            <a:ext cx="97840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009DA6"/>
                </a:solidFill>
                <a:latin typeface="Aptos"/>
              </a:rPr>
              <a:t>Output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88720" y="4690872"/>
            <a:ext cx="978408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232D37"/>
                </a:solidFill>
                <a:latin typeface="Aptos"/>
              </a:defRPr>
            </a:pPr>
            <a:r>
              <a:t>• A connected Excel analytical model with reusable Pivot Tables, KPI cards and three management dashboards that support data-driven decisions.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738360" y="6537960"/>
            <a:ext cx="19202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700" b="0">
                <a:solidFill>
                  <a:srgbClr val="697684"/>
                </a:solidFill>
                <a:latin typeface="Aptos"/>
              </a:rPr>
              <a:t>3  |  Apollo Hospitals Analytics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005BA9"/>
                </a:solidFill>
                <a:latin typeface="Aptos"/>
              </a:rPr>
              <a:t>Problems Faced and Solved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13232"/>
            <a:ext cx="10972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697684"/>
                </a:solidFill>
                <a:latin typeface="Aptos"/>
              </a:rPr>
              <a:t>Key analytical and Excel modelling challenges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24128"/>
            <a:ext cx="11155680" cy="32004"/>
          </a:xfrm>
          <a:prstGeom prst="rect">
            <a:avLst/>
          </a:prstGeom>
          <a:solidFill>
            <a:srgbClr val="009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325880"/>
            <a:ext cx="21488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2365B"/>
                </a:solidFill>
                <a:latin typeface="Aptos"/>
              </a:rPr>
              <a:t>Relationship ambiguity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88920" y="1325880"/>
            <a:ext cx="38862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232D37"/>
                </a:solidFill>
                <a:latin typeface="Aptos"/>
              </a:rPr>
              <a:t>Activating some relationships created multiple filtering paths in the Data Model.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03720" y="1325880"/>
            <a:ext cx="46177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009DA6"/>
                </a:solidFill>
                <a:latin typeface="Aptos"/>
              </a:rPr>
              <a:t>Used a star-schema approach and retained a single valid filtering path between dimensions and fact tables.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532888"/>
            <a:ext cx="21488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2365B"/>
                </a:solidFill>
                <a:latin typeface="Aptos"/>
              </a:rPr>
              <a:t>Multiple data domains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88920" y="2532888"/>
            <a:ext cx="38862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232D37"/>
                </a:solidFill>
                <a:latin typeface="Aptos"/>
              </a:rPr>
              <a:t>Patient, billing, insurance, pharmacy, lab and radiology data had to work together.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2532888"/>
            <a:ext cx="46177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009DA6"/>
                </a:solidFill>
                <a:latin typeface="Aptos"/>
              </a:rPr>
              <a:t>Separated analysis by business domain while using shared dimensions for consistent filtering.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739896"/>
            <a:ext cx="21488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2365B"/>
                </a:solidFill>
                <a:latin typeface="Aptos"/>
              </a:rPr>
              <a:t>KPI consistency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8920" y="3739896"/>
            <a:ext cx="38862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232D37"/>
                </a:solidFill>
                <a:latin typeface="Aptos"/>
              </a:rPr>
              <a:t>Counts, averages and revenue measures could be interpreted differently across tables.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3720" y="3739896"/>
            <a:ext cx="46177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009DA6"/>
                </a:solidFill>
                <a:latin typeface="Aptos"/>
              </a:rPr>
              <a:t>Defined KPIs with clear aggregation logic before building dashboard cards.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946904"/>
            <a:ext cx="21488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2365B"/>
                </a:solidFill>
                <a:latin typeface="Aptos"/>
              </a:rPr>
              <a:t>Dashboard overload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88920" y="4946904"/>
            <a:ext cx="38862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232D37"/>
                </a:solidFill>
                <a:latin typeface="Aptos"/>
              </a:rPr>
              <a:t>Too many Pivot Charts on one page would reduce readability.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03720" y="4946904"/>
            <a:ext cx="46177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009DA6"/>
                </a:solidFill>
                <a:latin typeface="Aptos"/>
              </a:rPr>
              <a:t>Split the solution into three focused pages: Patients, Financial, and Pharmacy &amp; Labs.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1078992"/>
            <a:ext cx="18288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697684"/>
                </a:solidFill>
                <a:latin typeface="Aptos"/>
              </a:rPr>
              <a:t>CHALLENGE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88920" y="1078992"/>
            <a:ext cx="27432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697684"/>
                </a:solidFill>
                <a:latin typeface="Aptos"/>
              </a:rPr>
              <a:t>WHAT HAPPENED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03720" y="1078992"/>
            <a:ext cx="27432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697684"/>
                </a:solidFill>
                <a:latin typeface="Aptos"/>
              </a:rPr>
              <a:t>HOW IT WAS SOLVED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38360" y="6537960"/>
            <a:ext cx="19202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700" b="0">
                <a:solidFill>
                  <a:srgbClr val="697684"/>
                </a:solidFill>
                <a:latin typeface="Aptos"/>
              </a:rPr>
              <a:t>4  |  Apollo Hospitals Analytics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005BA9"/>
                </a:solidFill>
                <a:latin typeface="Aptos"/>
              </a:rPr>
              <a:t>Patients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13232"/>
            <a:ext cx="10972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697684"/>
                </a:solidFill>
                <a:latin typeface="Aptos"/>
              </a:rPr>
              <a:t>Patient volume, experience and service-utilisation overview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24128"/>
            <a:ext cx="11155680" cy="32004"/>
          </a:xfrm>
          <a:prstGeom prst="rect">
            <a:avLst/>
          </a:prstGeom>
          <a:solidFill>
            <a:srgbClr val="009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02920" y="1234440"/>
            <a:ext cx="1627632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B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73152" cy="960120"/>
          </a:xfrm>
          <a:prstGeom prst="rect">
            <a:avLst/>
          </a:prstGeom>
          <a:solidFill>
            <a:srgbClr val="00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7512" y="1344168"/>
            <a:ext cx="135331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697684"/>
                </a:solidFill>
                <a:latin typeface="Aptos"/>
              </a:rPr>
              <a:t>Total Patients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1581912"/>
            <a:ext cx="135331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005BA9"/>
                </a:solidFill>
                <a:latin typeface="Aptos"/>
              </a:rPr>
              <a:t>20,240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23160" y="1234440"/>
            <a:ext cx="1627632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B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423160" y="1234440"/>
            <a:ext cx="73152" cy="960120"/>
          </a:xfrm>
          <a:prstGeom prst="rect">
            <a:avLst/>
          </a:prstGeom>
          <a:solidFill>
            <a:srgbClr val="009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587752" y="1344168"/>
            <a:ext cx="135331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697684"/>
                </a:solidFill>
                <a:latin typeface="Aptos"/>
              </a:rPr>
              <a:t>Total Visits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87752" y="1581912"/>
            <a:ext cx="135331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009DA6"/>
                </a:solidFill>
                <a:latin typeface="Aptos"/>
              </a:rPr>
              <a:t>104,500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1234440"/>
            <a:ext cx="1627632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B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343400" y="1234440"/>
            <a:ext cx="73152" cy="960120"/>
          </a:xfrm>
          <a:prstGeom prst="rect">
            <a:avLst/>
          </a:prstGeom>
          <a:solidFill>
            <a:srgbClr val="123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07992" y="1344168"/>
            <a:ext cx="135331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697684"/>
                </a:solidFill>
                <a:latin typeface="Aptos"/>
              </a:rPr>
              <a:t>Admissions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07992" y="1581912"/>
            <a:ext cx="135331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12365B"/>
                </a:solidFill>
                <a:latin typeface="Aptos"/>
              </a:rPr>
              <a:t>21,688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1234440"/>
            <a:ext cx="1627632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B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63640" y="1234440"/>
            <a:ext cx="73152" cy="960120"/>
          </a:xfrm>
          <a:prstGeom prst="rect">
            <a:avLst/>
          </a:prstGeom>
          <a:solidFill>
            <a:srgbClr val="289B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28231" y="1344168"/>
            <a:ext cx="135331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697684"/>
                </a:solidFill>
                <a:latin typeface="Aptos"/>
              </a:rPr>
              <a:t>Satisfaction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28231" y="1581912"/>
            <a:ext cx="135331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289B5F"/>
                </a:solidFill>
                <a:latin typeface="Aptos"/>
              </a:rPr>
              <a:t>4.12 / 5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83879" y="1234440"/>
            <a:ext cx="1627632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B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183879" y="1234440"/>
            <a:ext cx="73152" cy="960120"/>
          </a:xfrm>
          <a:prstGeom prst="rect">
            <a:avLst/>
          </a:prstGeom>
          <a:solidFill>
            <a:srgbClr val="EB9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348471" y="1344168"/>
            <a:ext cx="135331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697684"/>
                </a:solidFill>
                <a:latin typeface="Aptos"/>
              </a:rPr>
              <a:t>Avg. Wait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48471" y="1581912"/>
            <a:ext cx="135331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EB9A32"/>
                </a:solidFill>
                <a:latin typeface="Aptos"/>
              </a:rPr>
              <a:t>35.1 min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104120" y="1234440"/>
            <a:ext cx="1627632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B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10104120" y="1234440"/>
            <a:ext cx="73152" cy="960120"/>
          </a:xfrm>
          <a:prstGeom prst="rect">
            <a:avLst/>
          </a:prstGeom>
          <a:solidFill>
            <a:srgbClr val="00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268712" y="1344168"/>
            <a:ext cx="135331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697684"/>
                </a:solidFill>
                <a:latin typeface="Aptos"/>
              </a:rPr>
              <a:t>Avg. Doctor Rating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68712" y="1581912"/>
            <a:ext cx="135331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005BA9"/>
                </a:solidFill>
                <a:latin typeface="Aptos"/>
              </a:rPr>
              <a:t>3.59 / 5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2423160"/>
            <a:ext cx="3657600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DCEB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31520" y="2532888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005BA9"/>
                </a:solidFill>
                <a:latin typeface="Aptos"/>
              </a:rPr>
              <a:t>Patient Trend &amp; Mix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2953512"/>
            <a:ext cx="3200400" cy="2862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232D37"/>
                </a:solidFill>
                <a:latin typeface="Aptos"/>
              </a:defRPr>
            </a:pPr>
            <a:r>
              <a:t>• Monthly patient trend to identify peaks and seasonality.</a:t>
            </a:r>
          </a:p>
          <a:p>
            <a:pPr>
              <a:spcAft>
                <a:spcPts val="800"/>
              </a:spcAft>
              <a:defRPr sz="1200">
                <a:solidFill>
                  <a:srgbClr val="232D37"/>
                </a:solidFill>
                <a:latin typeface="Aptos"/>
              </a:defRPr>
            </a:pPr>
            <a:r>
              <a:t>• Gender and visit-percentage views to understand patient mix.</a:t>
            </a:r>
          </a:p>
          <a:p>
            <a:pPr>
              <a:spcAft>
                <a:spcPts val="800"/>
              </a:spcAft>
              <a:defRPr sz="1200">
                <a:solidFill>
                  <a:srgbClr val="232D37"/>
                </a:solidFill>
                <a:latin typeface="Aptos"/>
              </a:defRPr>
            </a:pPr>
            <a:r>
              <a:t>• Department-wise patient volume to locate high-demand specialties.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43400" y="2423160"/>
            <a:ext cx="3429000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DCEB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572000" y="2532888"/>
            <a:ext cx="2971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009DA6"/>
                </a:solidFill>
                <a:latin typeface="Aptos"/>
              </a:rPr>
              <a:t>Doctor &amp; Referral Analysis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0" y="2953512"/>
            <a:ext cx="2971800" cy="2862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232D37"/>
                </a:solidFill>
                <a:latin typeface="Aptos"/>
              </a:defRPr>
            </a:pPr>
            <a:r>
              <a:t>• Hospital-wise top doctors based on patient activity.</a:t>
            </a:r>
          </a:p>
          <a:p>
            <a:pPr>
              <a:spcAft>
                <a:spcPts val="800"/>
              </a:spcAft>
              <a:defRPr sz="1200">
                <a:solidFill>
                  <a:srgbClr val="232D37"/>
                </a:solidFill>
                <a:latin typeface="Aptos"/>
              </a:defRPr>
            </a:pPr>
            <a:r>
              <a:t>• Referral-source analysis to identify important acquisition channels.</a:t>
            </a:r>
          </a:p>
          <a:p>
            <a:pPr>
              <a:spcAft>
                <a:spcPts val="800"/>
              </a:spcAft>
              <a:defRPr sz="1200">
                <a:solidFill>
                  <a:srgbClr val="232D37"/>
                </a:solidFill>
                <a:latin typeface="Aptos"/>
              </a:defRPr>
            </a:pPr>
            <a:r>
              <a:t>• Satisfaction and doctor-rating KPIs for experience monitoring.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955279" y="2423160"/>
            <a:ext cx="3703320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DCEB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183879" y="2532888"/>
            <a:ext cx="3246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289B5F"/>
                </a:solidFill>
                <a:latin typeface="Aptos"/>
              </a:rPr>
              <a:t>Management Use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83879" y="2953512"/>
            <a:ext cx="3246120" cy="2862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232D37"/>
                </a:solidFill>
                <a:latin typeface="Aptos"/>
              </a:defRPr>
            </a:pPr>
            <a:r>
              <a:t>• Align staffing with high-volume departments and peak periods.</a:t>
            </a:r>
          </a:p>
          <a:p>
            <a:pPr>
              <a:spcAft>
                <a:spcPts val="800"/>
              </a:spcAft>
              <a:defRPr sz="1200">
                <a:solidFill>
                  <a:srgbClr val="232D37"/>
                </a:solidFill>
                <a:latin typeface="Aptos"/>
              </a:defRPr>
            </a:pPr>
            <a:r>
              <a:t>• Improve appointment planning where waiting time is high.</a:t>
            </a:r>
          </a:p>
          <a:p>
            <a:pPr>
              <a:spcAft>
                <a:spcPts val="800"/>
              </a:spcAft>
              <a:defRPr sz="1200">
                <a:solidFill>
                  <a:srgbClr val="232D37"/>
                </a:solidFill>
                <a:latin typeface="Aptos"/>
              </a:defRPr>
            </a:pPr>
            <a:r>
              <a:t>• Strengthen referral channels that consistently generate patient traffic.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38360" y="6537960"/>
            <a:ext cx="19202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700" b="0">
                <a:solidFill>
                  <a:srgbClr val="697684"/>
                </a:solidFill>
                <a:latin typeface="Aptos"/>
              </a:rPr>
              <a:t>5  |  Apollo Hospitals Analytics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005BA9"/>
                </a:solidFill>
                <a:latin typeface="Aptos"/>
              </a:rPr>
              <a:t>Financial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13232"/>
            <a:ext cx="10972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697684"/>
                </a:solidFill>
                <a:latin typeface="Aptos"/>
              </a:rPr>
              <a:t>Revenue, billing, payment mode and insurance performance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24128"/>
            <a:ext cx="11155680" cy="32004"/>
          </a:xfrm>
          <a:prstGeom prst="rect">
            <a:avLst/>
          </a:prstGeom>
          <a:solidFill>
            <a:srgbClr val="009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02920" y="1234440"/>
            <a:ext cx="15087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B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73152" cy="960120"/>
          </a:xfrm>
          <a:prstGeom prst="rect">
            <a:avLst/>
          </a:prstGeom>
          <a:solidFill>
            <a:srgbClr val="00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7512" y="1344168"/>
            <a:ext cx="1234439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697684"/>
                </a:solidFill>
                <a:latin typeface="Aptos"/>
              </a:rPr>
              <a:t>Gross Revenue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1581912"/>
            <a:ext cx="1234439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005BA9"/>
                </a:solidFill>
                <a:latin typeface="Aptos"/>
              </a:rPr>
              <a:t>₹37.08 Cr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14600" y="1234440"/>
            <a:ext cx="15087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B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514600" y="1234440"/>
            <a:ext cx="73152" cy="960120"/>
          </a:xfrm>
          <a:prstGeom prst="rect">
            <a:avLst/>
          </a:prstGeom>
          <a:solidFill>
            <a:srgbClr val="009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679192" y="1344168"/>
            <a:ext cx="1234439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697684"/>
                </a:solidFill>
                <a:latin typeface="Aptos"/>
              </a:rPr>
              <a:t>Net Revenue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79192" y="1581912"/>
            <a:ext cx="1234439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009DA6"/>
                </a:solidFill>
                <a:latin typeface="Aptos"/>
              </a:rPr>
              <a:t>₹34.42 Cr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26280" y="1234440"/>
            <a:ext cx="15087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B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526280" y="1234440"/>
            <a:ext cx="73152" cy="960120"/>
          </a:xfrm>
          <a:prstGeom prst="rect">
            <a:avLst/>
          </a:prstGeom>
          <a:solidFill>
            <a:srgbClr val="123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690872" y="1344168"/>
            <a:ext cx="1234439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697684"/>
                </a:solidFill>
                <a:latin typeface="Aptos"/>
              </a:rPr>
              <a:t>Avg. Bill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90872" y="1581912"/>
            <a:ext cx="1234439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12365B"/>
                </a:solidFill>
                <a:latin typeface="Aptos"/>
              </a:rPr>
              <a:t>₹3,442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37960" y="1234440"/>
            <a:ext cx="15087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B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537960" y="1234440"/>
            <a:ext cx="73152" cy="960120"/>
          </a:xfrm>
          <a:prstGeom prst="rect">
            <a:avLst/>
          </a:prstGeom>
          <a:solidFill>
            <a:srgbClr val="EB9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702552" y="1344168"/>
            <a:ext cx="1234439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697684"/>
                </a:solidFill>
                <a:latin typeface="Aptos"/>
              </a:rPr>
              <a:t>Total Claims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02552" y="1581912"/>
            <a:ext cx="1234439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EB9A32"/>
                </a:solidFill>
                <a:latin typeface="Aptos"/>
              </a:rPr>
              <a:t>8,442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549640" y="1234440"/>
            <a:ext cx="15087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B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549640" y="1234440"/>
            <a:ext cx="73152" cy="960120"/>
          </a:xfrm>
          <a:prstGeom prst="rect">
            <a:avLst/>
          </a:prstGeom>
          <a:solidFill>
            <a:srgbClr val="289B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714232" y="1344168"/>
            <a:ext cx="1234439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697684"/>
                </a:solidFill>
                <a:latin typeface="Aptos"/>
              </a:rPr>
              <a:t>Approval Rate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14232" y="1581912"/>
            <a:ext cx="1234439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289B5F"/>
                </a:solidFill>
                <a:latin typeface="Aptos"/>
              </a:rPr>
              <a:t>53.6%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561320" y="1234440"/>
            <a:ext cx="15087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B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10561320" y="1234440"/>
            <a:ext cx="73152" cy="960120"/>
          </a:xfrm>
          <a:prstGeom prst="rect">
            <a:avLst/>
          </a:prstGeom>
          <a:solidFill>
            <a:srgbClr val="C9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725912" y="1344168"/>
            <a:ext cx="1234439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697684"/>
                </a:solidFill>
                <a:latin typeface="Aptos"/>
              </a:rPr>
              <a:t>Rejected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25912" y="1581912"/>
            <a:ext cx="1234439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C94C4C"/>
                </a:solidFill>
                <a:latin typeface="Aptos"/>
              </a:rPr>
              <a:t>20.7%</a:t>
            </a:r>
          </a:p>
        </p:txBody>
      </p:sp>
      <p:graphicFrame>
        <p:nvGraphicFramePr>
          <p:cNvPr id="31" name="Chart 30"/>
          <p:cNvGraphicFramePr>
            <a:graphicFrameLocks noGrp="1"/>
          </p:cNvGraphicFramePr>
          <p:nvPr/>
        </p:nvGraphicFramePr>
        <p:xfrm>
          <a:off x="640080" y="2560320"/>
          <a:ext cx="3108960" cy="2971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2" name="Rounded Rectangle 31"/>
          <p:cNvSpPr/>
          <p:nvPr/>
        </p:nvSpPr>
        <p:spPr>
          <a:xfrm>
            <a:off x="4069080" y="2468880"/>
            <a:ext cx="347472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DCEB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297680" y="2578608"/>
            <a:ext cx="3017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005BA9"/>
                </a:solidFill>
                <a:latin typeface="Aptos"/>
              </a:rPr>
              <a:t>Financial Analysis Views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0" y="2999232"/>
            <a:ext cx="3017520" cy="2587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232D37"/>
                </a:solidFill>
                <a:latin typeface="Aptos"/>
              </a:defRPr>
            </a:pPr>
            <a:r>
              <a:t>• Monthly revenue trend for seasonality and growth tracking.</a:t>
            </a:r>
          </a:p>
          <a:p>
            <a:pPr>
              <a:spcAft>
                <a:spcPts val="800"/>
              </a:spcAft>
              <a:defRPr sz="1200">
                <a:solidFill>
                  <a:srgbClr val="232D37"/>
                </a:solidFill>
                <a:latin typeface="Aptos"/>
              </a:defRPr>
            </a:pPr>
            <a:r>
              <a:t>• Hospital-wise revenue comparison.</a:t>
            </a:r>
          </a:p>
          <a:p>
            <a:pPr>
              <a:spcAft>
                <a:spcPts val="800"/>
              </a:spcAft>
              <a:defRPr sz="1200">
                <a:solidFill>
                  <a:srgbClr val="232D37"/>
                </a:solidFill>
                <a:latin typeface="Aptos"/>
              </a:defRPr>
            </a:pPr>
            <a:r>
              <a:t>• Insurance-company performance and rejection analysis.</a:t>
            </a:r>
          </a:p>
          <a:p>
            <a:pPr>
              <a:spcAft>
                <a:spcPts val="800"/>
              </a:spcAft>
              <a:defRPr sz="1200">
                <a:solidFill>
                  <a:srgbClr val="232D37"/>
                </a:solidFill>
                <a:latin typeface="Aptos"/>
              </a:defRPr>
            </a:pPr>
            <a:r>
              <a:t>• Payment-mode analysis for collection behaviour.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818120" y="2468880"/>
            <a:ext cx="379476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DCEB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046720" y="2578608"/>
            <a:ext cx="33375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009DA6"/>
                </a:solidFill>
                <a:latin typeface="Aptos"/>
              </a:rPr>
              <a:t>Key Interpretation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46720" y="2999232"/>
            <a:ext cx="3337560" cy="2587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232D37"/>
                </a:solidFill>
                <a:latin typeface="Aptos"/>
              </a:defRPr>
            </a:pPr>
            <a:r>
              <a:t>• Net revenue is ₹34.42 Cr versus gross revenue of ₹37.08 Cr.</a:t>
            </a:r>
          </a:p>
          <a:p>
            <a:pPr>
              <a:spcAft>
                <a:spcPts val="800"/>
              </a:spcAft>
              <a:defRPr sz="1200">
                <a:solidFill>
                  <a:srgbClr val="232D37"/>
                </a:solidFill>
                <a:latin typeface="Aptos"/>
              </a:defRPr>
            </a:pPr>
            <a:r>
              <a:t>• Just over half of claims are fully approved; 20.7% are rejected.</a:t>
            </a:r>
          </a:p>
          <a:p>
            <a:pPr>
              <a:spcAft>
                <a:spcPts val="800"/>
              </a:spcAft>
              <a:defRPr sz="1200">
                <a:solidFill>
                  <a:srgbClr val="232D37"/>
                </a:solidFill>
                <a:latin typeface="Aptos"/>
              </a:defRPr>
            </a:pPr>
            <a:r>
              <a:t>• Claims performance is a meaningful area for process improvement and cash-flow protection.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38360" y="6537960"/>
            <a:ext cx="19202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700" b="0">
                <a:solidFill>
                  <a:srgbClr val="697684"/>
                </a:solidFill>
                <a:latin typeface="Aptos"/>
              </a:rPr>
              <a:t>6  |  Apollo Hospitals Analytics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005BA9"/>
                </a:solidFill>
                <a:latin typeface="Aptos"/>
              </a:rPr>
              <a:t>Pharmacy &amp; Labs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13232"/>
            <a:ext cx="10972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697684"/>
                </a:solidFill>
                <a:latin typeface="Aptos"/>
              </a:rPr>
              <a:t>Pharmacy sales, medicine movement and diagnostic activity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24128"/>
            <a:ext cx="11155680" cy="32004"/>
          </a:xfrm>
          <a:prstGeom prst="rect">
            <a:avLst/>
          </a:prstGeom>
          <a:solidFill>
            <a:srgbClr val="009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94360" y="1234440"/>
            <a:ext cx="1828800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DCEB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94360" y="1234440"/>
            <a:ext cx="73152" cy="987552"/>
          </a:xfrm>
          <a:prstGeom prst="rect">
            <a:avLst/>
          </a:prstGeom>
          <a:solidFill>
            <a:srgbClr val="289B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58952" y="1344168"/>
            <a:ext cx="15544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697684"/>
                </a:solidFill>
                <a:latin typeface="Aptos"/>
              </a:rPr>
              <a:t>Pharmacy Sales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1581912"/>
            <a:ext cx="15544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289B5F"/>
                </a:solidFill>
                <a:latin typeface="Aptos"/>
              </a:rPr>
              <a:t>₹8.06 Cr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0" y="1234440"/>
            <a:ext cx="1828800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DCEB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743200" y="1234440"/>
            <a:ext cx="73152" cy="987552"/>
          </a:xfrm>
          <a:prstGeom prst="rect">
            <a:avLst/>
          </a:prstGeom>
          <a:solidFill>
            <a:srgbClr val="009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907792" y="1344168"/>
            <a:ext cx="15544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697684"/>
                </a:solidFill>
                <a:latin typeface="Aptos"/>
              </a:rPr>
              <a:t>Avg. Order Value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07792" y="1581912"/>
            <a:ext cx="15544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009DA6"/>
                </a:solidFill>
                <a:latin typeface="Aptos"/>
              </a:rPr>
              <a:t>₹896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92040" y="1234440"/>
            <a:ext cx="1828800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DCEB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892040" y="1234440"/>
            <a:ext cx="73152" cy="987552"/>
          </a:xfrm>
          <a:prstGeom prst="rect">
            <a:avLst/>
          </a:prstGeom>
          <a:solidFill>
            <a:srgbClr val="C9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56631" y="1344168"/>
            <a:ext cx="15544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697684"/>
                </a:solidFill>
                <a:latin typeface="Aptos"/>
              </a:rPr>
              <a:t>Medicine Returns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56631" y="1581912"/>
            <a:ext cx="15544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C94C4C"/>
                </a:solidFill>
                <a:latin typeface="Aptos"/>
              </a:rPr>
              <a:t>1,800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40880" y="1234440"/>
            <a:ext cx="1828800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DCEB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040880" y="1234440"/>
            <a:ext cx="73152" cy="987552"/>
          </a:xfrm>
          <a:prstGeom prst="rect">
            <a:avLst/>
          </a:prstGeom>
          <a:solidFill>
            <a:srgbClr val="00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205472" y="1344168"/>
            <a:ext cx="15544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697684"/>
                </a:solidFill>
                <a:latin typeface="Aptos"/>
              </a:rPr>
              <a:t>Lab Tests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05472" y="1581912"/>
            <a:ext cx="15544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005BA9"/>
                </a:solidFill>
                <a:latin typeface="Aptos"/>
              </a:rPr>
              <a:t>40,000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2514600"/>
            <a:ext cx="342900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CEB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2960" y="2624328"/>
            <a:ext cx="2971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289B5F"/>
                </a:solidFill>
                <a:latin typeface="Aptos"/>
              </a:rPr>
              <a:t>Pharmacy Analysis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3044952"/>
            <a:ext cx="2971800" cy="2679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232D37"/>
                </a:solidFill>
                <a:latin typeface="Aptos"/>
              </a:defRPr>
            </a:pPr>
            <a:r>
              <a:t>• Revenue by medicine/category to identify high-value segments.</a:t>
            </a:r>
          </a:p>
          <a:p>
            <a:pPr>
              <a:spcAft>
                <a:spcPts val="800"/>
              </a:spcAft>
              <a:defRPr sz="1200">
                <a:solidFill>
                  <a:srgbClr val="232D37"/>
                </a:solidFill>
                <a:latin typeface="Aptos"/>
              </a:defRPr>
            </a:pPr>
            <a:r>
              <a:t>• Top-selling medicines and brands for inventory prioritisation.</a:t>
            </a:r>
          </a:p>
          <a:p>
            <a:pPr>
              <a:spcAft>
                <a:spcPts val="800"/>
              </a:spcAft>
              <a:defRPr sz="1200">
                <a:solidFill>
                  <a:srgbClr val="232D37"/>
                </a:solidFill>
                <a:latin typeface="Aptos"/>
              </a:defRPr>
            </a:pPr>
            <a:r>
              <a:t>• Medicine-return monitoring to flag avoidable stock and fulfilment issues.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51960" y="2514600"/>
            <a:ext cx="342900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CEB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480560" y="2624328"/>
            <a:ext cx="2971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005BA9"/>
                </a:solidFill>
                <a:latin typeface="Aptos"/>
              </a:rPr>
              <a:t>Laboratory Analysis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3044952"/>
            <a:ext cx="2971800" cy="2679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232D37"/>
                </a:solidFill>
                <a:latin typeface="Aptos"/>
              </a:defRPr>
            </a:pPr>
            <a:r>
              <a:t>• Tests conducted by type to understand workload concentration.</a:t>
            </a:r>
          </a:p>
          <a:p>
            <a:pPr>
              <a:spcAft>
                <a:spcPts val="800"/>
              </a:spcAft>
              <a:defRPr sz="1200">
                <a:solidFill>
                  <a:srgbClr val="232D37"/>
                </a:solidFill>
                <a:latin typeface="Aptos"/>
              </a:defRPr>
            </a:pPr>
            <a:r>
              <a:t>• Test-volume KPI provides a baseline for technician and equipment planning.</a:t>
            </a:r>
          </a:p>
          <a:p>
            <a:pPr>
              <a:spcAft>
                <a:spcPts val="800"/>
              </a:spcAft>
              <a:defRPr sz="1200">
                <a:solidFill>
                  <a:srgbClr val="232D37"/>
                </a:solidFill>
                <a:latin typeface="Aptos"/>
              </a:defRPr>
            </a:pPr>
            <a:r>
              <a:t>• High-demand tests can be monitored for capacity and turnaround improvements.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909560" y="2514600"/>
            <a:ext cx="361188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CEB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138160" y="2624328"/>
            <a:ext cx="31546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009DA6"/>
                </a:solidFill>
                <a:latin typeface="Aptos"/>
              </a:rPr>
              <a:t>Radiology &amp; Actions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38160" y="3044952"/>
            <a:ext cx="3154680" cy="2679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232D37"/>
                </a:solidFill>
                <a:latin typeface="Aptos"/>
              </a:defRPr>
            </a:pPr>
            <a:r>
              <a:t>• Radiology scan mix shows utilisation across diagnostic modalities.</a:t>
            </a:r>
          </a:p>
          <a:p>
            <a:pPr>
              <a:spcAft>
                <a:spcPts val="800"/>
              </a:spcAft>
              <a:defRPr sz="1200">
                <a:solidFill>
                  <a:srgbClr val="232D37"/>
                </a:solidFill>
                <a:latin typeface="Aptos"/>
              </a:defRPr>
            </a:pPr>
            <a:r>
              <a:t>• Use demand patterns to schedule machines, staff and maintenance.</a:t>
            </a:r>
          </a:p>
          <a:p>
            <a:pPr>
              <a:spcAft>
                <a:spcPts val="800"/>
              </a:spcAft>
              <a:defRPr sz="1200">
                <a:solidFill>
                  <a:srgbClr val="232D37"/>
                </a:solidFill>
                <a:latin typeface="Aptos"/>
              </a:defRPr>
            </a:pPr>
            <a:r>
              <a:t>• Combine pharmacy and diagnostic demand trends for better operational planning.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38360" y="6537960"/>
            <a:ext cx="19202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700" b="0">
                <a:solidFill>
                  <a:srgbClr val="697684"/>
                </a:solidFill>
                <a:latin typeface="Aptos"/>
              </a:rPr>
              <a:t>7  |  Apollo Hospitals Analytics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005BA9"/>
                </a:solidFill>
                <a:latin typeface="Aptos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13232"/>
            <a:ext cx="10972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697684"/>
                </a:solidFill>
                <a:latin typeface="Aptos"/>
              </a:rPr>
              <a:t>Turning Excel analysis into management action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24128"/>
            <a:ext cx="11155680" cy="32004"/>
          </a:xfrm>
          <a:prstGeom prst="rect">
            <a:avLst/>
          </a:prstGeom>
          <a:solidFill>
            <a:srgbClr val="009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325880"/>
            <a:ext cx="10881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12365B"/>
                </a:solidFill>
                <a:latin typeface="Aptos"/>
              </a:rPr>
              <a:t>The project converts a complex healthcare dataset into three decision-focused views.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40280"/>
            <a:ext cx="342900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CEB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514600"/>
            <a:ext cx="2971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005BA9"/>
                </a:solidFill>
                <a:latin typeface="Aptos"/>
              </a:rPr>
              <a:t>Patient Experience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154680"/>
            <a:ext cx="27889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232D37"/>
                </a:solidFill>
                <a:latin typeface="Aptos"/>
              </a:rPr>
              <a:t>Use volume, waiting time, satisfaction and referral patterns to improve service planning.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2240280"/>
            <a:ext cx="342900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CEB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09160" y="2514600"/>
            <a:ext cx="2971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009DA6"/>
                </a:solidFill>
                <a:latin typeface="Aptos"/>
              </a:rPr>
              <a:t>Financial Performance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600" y="3154680"/>
            <a:ext cx="27889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232D37"/>
                </a:solidFill>
                <a:latin typeface="Aptos"/>
              </a:rPr>
              <a:t>Track revenue and strengthen insurance-claim processes to protect collections.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75320" y="2240280"/>
            <a:ext cx="342900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CEB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03920" y="2514600"/>
            <a:ext cx="2971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289B5F"/>
                </a:solidFill>
                <a:latin typeface="Aptos"/>
              </a:rPr>
              <a:t>Operational Efficiency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3154680"/>
            <a:ext cx="27889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232D37"/>
                </a:solidFill>
                <a:latin typeface="Aptos"/>
              </a:rPr>
              <a:t>Use pharmacy, laboratory and radiology demand to improve inventory and resource allocation.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074920"/>
            <a:ext cx="99669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2365B"/>
                </a:solidFill>
                <a:latin typeface="Aptos"/>
              </a:rPr>
              <a:t>Final takeaway: the dashboard is not the end product—the business decisions enabled by the dashboard are.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38360" y="6537960"/>
            <a:ext cx="19202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700" b="0">
                <a:solidFill>
                  <a:srgbClr val="697684"/>
                </a:solidFill>
                <a:latin typeface="Aptos"/>
              </a:rPr>
              <a:t>8  |  Apollo Hospitals Analytics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913</Words>
  <Application>Microsoft Office PowerPoint</Application>
  <PresentationFormat>Widescreen</PresentationFormat>
  <Paragraphs>165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Tanmay Talmale</dc:creator>
  <cp:keywords/>
  <dc:description>generated using python-pptx</dc:description>
  <cp:lastModifiedBy>Tanmay Talmale</cp:lastModifiedBy>
  <cp:revision>2</cp:revision>
  <dcterms:created xsi:type="dcterms:W3CDTF">2013-01-27T09:14:16Z</dcterms:created>
  <dcterms:modified xsi:type="dcterms:W3CDTF">2026-08-04T05:50:10Z</dcterms:modified>
  <cp:category/>
</cp:coreProperties>
</file>